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0f1c407a9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0f1c407a9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f1c407a9_5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0f1c407a9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0f1c407a9_5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0f1c407a9_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f1c407a9_5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0f1c407a9_5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f1c407a9_5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f1c407a9_5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0f1c407a9_5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0f1c407a9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0f1c407a9_3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0f1c407a9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f1c407a9_3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0f1c407a9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0f1c407a9_3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0f1c407a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0f1c407a9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0f1c407a9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0f1c407a9_4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0f1c407a9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0f1c407a9_4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0f1c407a9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0f1c407a9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0f1c407a9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12" Type="http://schemas.openxmlformats.org/officeDocument/2006/relationships/image" Target="../media/image10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/>
              <a:t>Diagramas de flujo</a:t>
            </a:r>
            <a:endParaRPr sz="52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569387"/>
            <a:ext cx="83877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Jose Soler Membrives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Pablo Chamorro </a:t>
            </a:r>
            <a:r>
              <a:rPr lang="es" sz="1800"/>
              <a:t>González</a:t>
            </a:r>
            <a:r>
              <a:rPr lang="es" sz="1800"/>
              <a:t>-Ripoll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Rafael Ruiz Álvarez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65500" y="301175"/>
            <a:ext cx="4045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ÍNDICE</a:t>
            </a:r>
            <a:endParaRPr b="1"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265500" y="1132473"/>
            <a:ext cx="4045200" cy="3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Invención del diagrama de flujo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Objetivo inicial y evolución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Diagramas de flujo en la actualidad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UML y </a:t>
            </a:r>
            <a:r>
              <a:rPr lang="es" sz="2000"/>
              <a:t>características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Tipos de diagrama de flujo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4899275" y="4420575"/>
            <a:ext cx="805800" cy="27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4899275" y="1132473"/>
            <a:ext cx="4045200" cy="36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>
                <a:solidFill>
                  <a:schemeClr val="lt1"/>
                </a:solidFill>
              </a:rPr>
              <a:t>Simbología</a:t>
            </a:r>
            <a:r>
              <a:rPr lang="es" sz="2000">
                <a:solidFill>
                  <a:schemeClr val="lt1"/>
                </a:solidFill>
              </a:rPr>
              <a:t> y significado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>
                <a:solidFill>
                  <a:schemeClr val="lt1"/>
                </a:solidFill>
              </a:rPr>
              <a:t>Crear un diagrama de flujo paso a paso</a:t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>
                <a:solidFill>
                  <a:schemeClr val="lt1"/>
                </a:solidFill>
              </a:rPr>
              <a:t>Herramientas para crear diagramas</a:t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s" sz="2000">
                <a:solidFill>
                  <a:schemeClr val="lt1"/>
                </a:solidFill>
              </a:rPr>
              <a:t>Ejemplo </a:t>
            </a:r>
            <a:r>
              <a:rPr lang="es" sz="2000">
                <a:solidFill>
                  <a:schemeClr val="lt1"/>
                </a:solidFill>
              </a:rPr>
              <a:t>práctico</a:t>
            </a:r>
            <a:r>
              <a:rPr lang="es" sz="2000">
                <a:solidFill>
                  <a:schemeClr val="lt1"/>
                </a:solidFill>
              </a:rPr>
              <a:t> resuelto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Invención del diagrama de flujo</a:t>
            </a:r>
            <a:endParaRPr b="1"/>
          </a:p>
        </p:txBody>
      </p:sp>
      <p:grpSp>
        <p:nvGrpSpPr>
          <p:cNvPr id="100" name="Google Shape;100;p15"/>
          <p:cNvGrpSpPr/>
          <p:nvPr/>
        </p:nvGrpSpPr>
        <p:grpSpPr>
          <a:xfrm>
            <a:off x="431940" y="1095965"/>
            <a:ext cx="8400472" cy="1879200"/>
            <a:chOff x="431925" y="1304875"/>
            <a:chExt cx="2628927" cy="1879200"/>
          </a:xfrm>
        </p:grpSpPr>
        <p:sp>
          <p:nvSpPr>
            <p:cNvPr id="101" name="Google Shape;101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31952" y="1304875"/>
              <a:ext cx="2628900" cy="1879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5"/>
          <p:cNvSpPr txBox="1"/>
          <p:nvPr>
            <p:ph idx="4294967295" type="body"/>
          </p:nvPr>
        </p:nvSpPr>
        <p:spPr>
          <a:xfrm>
            <a:off x="506425" y="109596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Inventores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4" name="Google Shape;104;p15"/>
          <p:cNvSpPr txBox="1"/>
          <p:nvPr>
            <p:ph idx="4294967295" type="body"/>
          </p:nvPr>
        </p:nvSpPr>
        <p:spPr>
          <a:xfrm>
            <a:off x="508325" y="1915144"/>
            <a:ext cx="8035200" cy="5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Inventado</a:t>
            </a:r>
            <a:r>
              <a:rPr lang="es" sz="1600">
                <a:solidFill>
                  <a:srgbClr val="000000"/>
                </a:solidFill>
              </a:rPr>
              <a:t> por el matrimonio de ingenieros industriales </a:t>
            </a:r>
            <a:r>
              <a:rPr b="1" lang="es" sz="1600">
                <a:solidFill>
                  <a:srgbClr val="000000"/>
                </a:solidFill>
              </a:rPr>
              <a:t>Frank y Lillian Gilbreth</a:t>
            </a:r>
            <a:r>
              <a:rPr lang="es" sz="1600">
                <a:solidFill>
                  <a:srgbClr val="000000"/>
                </a:solidFill>
              </a:rPr>
              <a:t> en 1921.</a:t>
            </a:r>
            <a:endParaRPr sz="1600"/>
          </a:p>
        </p:txBody>
      </p:sp>
      <p:grpSp>
        <p:nvGrpSpPr>
          <p:cNvPr id="105" name="Google Shape;105;p15"/>
          <p:cNvGrpSpPr/>
          <p:nvPr/>
        </p:nvGrpSpPr>
        <p:grpSpPr>
          <a:xfrm>
            <a:off x="431940" y="3193405"/>
            <a:ext cx="8400472" cy="1879200"/>
            <a:chOff x="431925" y="1304875"/>
            <a:chExt cx="2628927" cy="1879200"/>
          </a:xfrm>
        </p:grpSpPr>
        <p:sp>
          <p:nvSpPr>
            <p:cNvPr id="106" name="Google Shape;106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31952" y="1304875"/>
              <a:ext cx="2628900" cy="1879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5"/>
          <p:cNvSpPr txBox="1"/>
          <p:nvPr>
            <p:ph idx="4294967295" type="body"/>
          </p:nvPr>
        </p:nvSpPr>
        <p:spPr>
          <a:xfrm>
            <a:off x="506425" y="319340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Estandarización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09" name="Google Shape;109;p15"/>
          <p:cNvSpPr txBox="1"/>
          <p:nvPr>
            <p:ph idx="4294967295" type="body"/>
          </p:nvPr>
        </p:nvSpPr>
        <p:spPr>
          <a:xfrm>
            <a:off x="508325" y="3738825"/>
            <a:ext cx="8100300" cy="11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Presentaron las primeras versiones en la Sociedad Americana de Ingenieros Mecánicos (ASME) en </a:t>
            </a:r>
            <a:r>
              <a:rPr b="1" lang="es" sz="1600"/>
              <a:t>1947</a:t>
            </a:r>
            <a:r>
              <a:rPr lang="es" sz="1600"/>
              <a:t> donde se aceptó y </a:t>
            </a:r>
            <a:r>
              <a:rPr b="1" lang="es" sz="1600"/>
              <a:t>estandarizó</a:t>
            </a:r>
            <a:r>
              <a:rPr lang="es" sz="1600"/>
              <a:t> un conjunto de símbolos para su uso común.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Objetivo inicial y evolución</a:t>
            </a:r>
            <a:endParaRPr b="1"/>
          </a:p>
        </p:txBody>
      </p:sp>
      <p:grpSp>
        <p:nvGrpSpPr>
          <p:cNvPr id="115" name="Google Shape;115;p16"/>
          <p:cNvGrpSpPr/>
          <p:nvPr/>
        </p:nvGrpSpPr>
        <p:grpSpPr>
          <a:xfrm>
            <a:off x="431940" y="1095965"/>
            <a:ext cx="8400472" cy="1879200"/>
            <a:chOff x="431925" y="1304875"/>
            <a:chExt cx="2628927" cy="1879200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431952" y="1304875"/>
              <a:ext cx="2628900" cy="1879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6"/>
          <p:cNvSpPr txBox="1"/>
          <p:nvPr>
            <p:ph idx="4294967295" type="body"/>
          </p:nvPr>
        </p:nvSpPr>
        <p:spPr>
          <a:xfrm>
            <a:off x="506425" y="109596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Inicio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19" name="Google Shape;119;p16"/>
          <p:cNvSpPr txBox="1"/>
          <p:nvPr>
            <p:ph idx="4294967295" type="body"/>
          </p:nvPr>
        </p:nvSpPr>
        <p:spPr>
          <a:xfrm>
            <a:off x="508325" y="1635548"/>
            <a:ext cx="8035200" cy="12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Frank y Lillian Gilbreth </a:t>
            </a:r>
            <a:r>
              <a:rPr lang="es" sz="1600"/>
              <a:t>eran expertos en eficiencia, de ahí que optimizaran el proceso del diseño y producción industrial con los diagramas de flujos.</a:t>
            </a:r>
            <a:endParaRPr sz="1600"/>
          </a:p>
        </p:txBody>
      </p:sp>
      <p:grpSp>
        <p:nvGrpSpPr>
          <p:cNvPr id="120" name="Google Shape;120;p16"/>
          <p:cNvGrpSpPr/>
          <p:nvPr/>
        </p:nvGrpSpPr>
        <p:grpSpPr>
          <a:xfrm>
            <a:off x="431940" y="3193405"/>
            <a:ext cx="8400472" cy="1879200"/>
            <a:chOff x="431925" y="1304875"/>
            <a:chExt cx="2628927" cy="1879200"/>
          </a:xfrm>
        </p:grpSpPr>
        <p:sp>
          <p:nvSpPr>
            <p:cNvPr id="121" name="Google Shape;121;p1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431952" y="1304875"/>
              <a:ext cx="2628900" cy="1879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6"/>
          <p:cNvSpPr txBox="1"/>
          <p:nvPr>
            <p:ph idx="4294967295" type="body"/>
          </p:nvPr>
        </p:nvSpPr>
        <p:spPr>
          <a:xfrm>
            <a:off x="506425" y="319340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Evolución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4" name="Google Shape;124;p16"/>
          <p:cNvSpPr txBox="1"/>
          <p:nvPr>
            <p:ph idx="4294967295" type="body"/>
          </p:nvPr>
        </p:nvSpPr>
        <p:spPr>
          <a:xfrm>
            <a:off x="508325" y="3738825"/>
            <a:ext cx="8100300" cy="11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600"/>
              <a:t>A finales de los años 40, </a:t>
            </a:r>
            <a:r>
              <a:rPr b="1" lang="es" sz="1600"/>
              <a:t>Herman Goldstine y John von Neumann</a:t>
            </a:r>
            <a:r>
              <a:rPr lang="es" sz="1600"/>
              <a:t> desarrollaron una versión para la planificación de programas de ordenador, una aplicación que ayudó a popularizar el método.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179055" y="826950"/>
            <a:ext cx="3372300" cy="57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/>
              <a:t>Herman Goldstine</a:t>
            </a:r>
            <a:endParaRPr b="1" sz="3000"/>
          </a:p>
        </p:txBody>
      </p:sp>
      <p:sp>
        <p:nvSpPr>
          <p:cNvPr id="130" name="Google Shape;130;p17"/>
          <p:cNvSpPr txBox="1"/>
          <p:nvPr>
            <p:ph idx="1" type="subTitle"/>
          </p:nvPr>
        </p:nvSpPr>
        <p:spPr>
          <a:xfrm>
            <a:off x="265500" y="1303900"/>
            <a:ext cx="4120800" cy="25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Matemático, informático y administrador científico.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Uno de los principales desarrolladores de la </a:t>
            </a:r>
            <a:r>
              <a:rPr b="1" lang="es" sz="2000">
                <a:solidFill>
                  <a:srgbClr val="000000"/>
                </a:solidFill>
              </a:rPr>
              <a:t>ENIAC</a:t>
            </a:r>
            <a:r>
              <a:rPr lang="es" sz="2000">
                <a:solidFill>
                  <a:srgbClr val="000000"/>
                </a:solidFill>
              </a:rPr>
              <a:t>, acrónimo de Electronic Numerical Integrator And Computer (Computador e Integrador Numérico Electrónico)</a:t>
            </a:r>
            <a:endParaRPr sz="3000"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175" y="281512"/>
            <a:ext cx="3704174" cy="458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222277" y="826950"/>
            <a:ext cx="3567600" cy="57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/>
              <a:t>John von Neumann</a:t>
            </a:r>
            <a:endParaRPr b="1" sz="3000"/>
          </a:p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265500" y="1303893"/>
            <a:ext cx="4045200" cy="25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Matemático y polímata.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Considerado uno de los matemáticos más importantes del siglo XX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Importantes contribuciones en </a:t>
            </a:r>
            <a:r>
              <a:rPr b="1" lang="es" sz="2000">
                <a:solidFill>
                  <a:srgbClr val="000000"/>
                </a:solidFill>
              </a:rPr>
              <a:t>física cuántica,ciencias de la computación, estadística y cibernética.</a:t>
            </a:r>
            <a:endParaRPr b="1" sz="2000">
              <a:solidFill>
                <a:srgbClr val="000000"/>
              </a:solidFill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950" y="245512"/>
            <a:ext cx="3567625" cy="465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Diagramas de flujo en la actualidad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Representar algoritmos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46" name="Google Shape;146;p19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Ayuda a: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/>
              <a:t>· Visualizar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/>
              <a:t>· Toma de decisiones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/>
              <a:t>· Optimizar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600"/>
              <a:t>· Desarrollar</a:t>
            </a:r>
            <a:endParaRPr sz="1600"/>
          </a:p>
        </p:txBody>
      </p:sp>
      <p:sp>
        <p:nvSpPr>
          <p:cNvPr id="147" name="Google Shape;147;p19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Visualizar el flujo de datos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49" name="Google Shape;149;p19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Visualizar el flujo de datos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/>
              <a:t>Ver esquemáticamente cómo la información se mueve a través de un sistema.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0" name="Google Shape;150;p19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>
            <p:ph idx="4294967295" type="body"/>
          </p:nvPr>
        </p:nvSpPr>
        <p:spPr>
          <a:xfrm>
            <a:off x="6210326" y="1436942"/>
            <a:ext cx="2511000" cy="34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Estandarizar procedimientos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52" name="Google Shape;152;p19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Aumentar la conversión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/>
              <a:t>Ayudan a asegurar que las tareas se realicen siempre de la misma manera.</a:t>
            </a:r>
            <a:br>
              <a:rPr lang="es" sz="1600"/>
            </a:b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s" sz="1600"/>
              <a:t>Delegación y sustitución.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1217575" y="194100"/>
            <a:ext cx="6214500" cy="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/>
              <a:t>UML</a:t>
            </a:r>
            <a:r>
              <a:rPr b="1" lang="es"/>
              <a:t> </a:t>
            </a:r>
            <a:r>
              <a:rPr lang="es" sz="2200"/>
              <a:t>(Lenguaje de Modelado Unificado)</a:t>
            </a:r>
            <a:endParaRPr sz="2200"/>
          </a:p>
        </p:txBody>
      </p:sp>
      <p:grpSp>
        <p:nvGrpSpPr>
          <p:cNvPr id="158" name="Google Shape;158;p20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59" name="Google Shape;159;p20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20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¿Qué es?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2" name="Google Shape;162;p20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2129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Estándar de lenguaje de modelado visual universal</a:t>
            </a:r>
            <a:endParaRPr sz="750">
              <a:solidFill>
                <a:srgbClr val="2129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2129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Describir, visualizar, construir y documentar </a:t>
            </a:r>
            <a:endParaRPr sz="750">
              <a:solidFill>
                <a:srgbClr val="2129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/>
              <a:t>NO es un lenguaje de programación</a:t>
            </a:r>
            <a:endParaRPr sz="75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63" name="Google Shape;163;p20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64" name="Google Shape;164;p20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20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¿Por qué UML?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7" name="Google Shape;167;p20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Evolución de la Ingeniería de Software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Proyectos cada vez más grandes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Programación Orientada a Objetos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Unificación de la simbología</a:t>
            </a:r>
            <a:endParaRPr sz="1100"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69" name="Google Shape;169;p20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0"/>
          <p:cNvSpPr txBox="1"/>
          <p:nvPr>
            <p:ph idx="4294967295" type="body"/>
          </p:nvPr>
        </p:nvSpPr>
        <p:spPr>
          <a:xfrm>
            <a:off x="6272475" y="1304875"/>
            <a:ext cx="2572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Diagrama de Flujo en UML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5" y="2481800"/>
            <a:ext cx="1802749" cy="213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1125" y="3353625"/>
            <a:ext cx="1469826" cy="96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3594075" y="4353775"/>
            <a:ext cx="2159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Ejemplos de flechas en los diagramas de clases</a:t>
            </a:r>
            <a:endParaRPr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475" y="1957050"/>
            <a:ext cx="2478600" cy="24860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7602936" y="3384625"/>
            <a:ext cx="532779" cy="314575"/>
          </a:xfrm>
          <a:custGeom>
            <a:rect b="b" l="l" r="r" t="t"/>
            <a:pathLst>
              <a:path extrusionOk="0" h="12583" w="21356">
                <a:moveTo>
                  <a:pt x="9220" y="0"/>
                </a:moveTo>
                <a:cubicBezTo>
                  <a:pt x="13844" y="0"/>
                  <a:pt x="22878" y="2822"/>
                  <a:pt x="21134" y="7104"/>
                </a:cubicBezTo>
                <a:cubicBezTo>
                  <a:pt x="18499" y="13575"/>
                  <a:pt x="2372" y="14781"/>
                  <a:pt x="198" y="8141"/>
                </a:cubicBezTo>
                <a:cubicBezTo>
                  <a:pt x="-1658" y="2472"/>
                  <a:pt x="10289" y="945"/>
                  <a:pt x="16198" y="12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310825" y="188700"/>
            <a:ext cx="8520600" cy="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Diagramas de Flujo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310825" y="929650"/>
            <a:ext cx="2469300" cy="520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 txBox="1"/>
          <p:nvPr>
            <p:ph idx="4294967295" type="body"/>
          </p:nvPr>
        </p:nvSpPr>
        <p:spPr>
          <a:xfrm>
            <a:off x="296550" y="1079921"/>
            <a:ext cx="2257200" cy="1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Formato vertical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2923250" y="929650"/>
            <a:ext cx="2760600" cy="520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 txBox="1"/>
          <p:nvPr>
            <p:ph idx="4294967295" type="body"/>
          </p:nvPr>
        </p:nvSpPr>
        <p:spPr>
          <a:xfrm>
            <a:off x="3214625" y="1079921"/>
            <a:ext cx="2257200" cy="1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Formato horizontal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86" name="Google Shape;186;p21"/>
          <p:cNvSpPr txBox="1"/>
          <p:nvPr>
            <p:ph idx="4294967295" type="body"/>
          </p:nvPr>
        </p:nvSpPr>
        <p:spPr>
          <a:xfrm>
            <a:off x="6132707" y="999921"/>
            <a:ext cx="2257200" cy="1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Formato panorámico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87" name="Google Shape;187;p21"/>
          <p:cNvSpPr txBox="1"/>
          <p:nvPr>
            <p:ph idx="4294967295" type="body"/>
          </p:nvPr>
        </p:nvSpPr>
        <p:spPr>
          <a:xfrm>
            <a:off x="424351" y="2953675"/>
            <a:ext cx="2469300" cy="1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Bloques de procesos de prodción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88" name="Google Shape;188;p21"/>
          <p:cNvSpPr txBox="1"/>
          <p:nvPr>
            <p:ph idx="4294967295" type="body"/>
          </p:nvPr>
        </p:nvSpPr>
        <p:spPr>
          <a:xfrm>
            <a:off x="3328137" y="2953671"/>
            <a:ext cx="2257200" cy="1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Flujo de carriles de nado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906325" y="929650"/>
            <a:ext cx="2760600" cy="520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>
            <p:ph idx="4294967295" type="body"/>
          </p:nvPr>
        </p:nvSpPr>
        <p:spPr>
          <a:xfrm>
            <a:off x="6158020" y="1079921"/>
            <a:ext cx="2257200" cy="1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Flujo de un sitio Web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650" y="1969612"/>
            <a:ext cx="2647074" cy="190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8025" y="1796576"/>
            <a:ext cx="2858900" cy="2082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2553750" y="4211775"/>
            <a:ext cx="57300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Representación gráfica de un algoritmo o proceso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25" y="1564700"/>
            <a:ext cx="1730775" cy="33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311700" y="2272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Simbolog</a:t>
            </a:r>
            <a:r>
              <a:rPr lang="es"/>
              <a:t>ía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415975" y="1257044"/>
            <a:ext cx="1449300" cy="135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415989" y="1256375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 txBox="1"/>
          <p:nvPr>
            <p:ph idx="4294967295" type="body"/>
          </p:nvPr>
        </p:nvSpPr>
        <p:spPr>
          <a:xfrm>
            <a:off x="416289" y="1371871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Línea de flujo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2079540" y="1257044"/>
            <a:ext cx="1449300" cy="135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2079554" y="1256375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 txBox="1"/>
          <p:nvPr>
            <p:ph idx="4294967295" type="body"/>
          </p:nvPr>
        </p:nvSpPr>
        <p:spPr>
          <a:xfrm>
            <a:off x="2079679" y="1371871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Terminal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743067" y="1257044"/>
            <a:ext cx="1449300" cy="135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3743144" y="1256375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 txBox="1"/>
          <p:nvPr>
            <p:ph idx="4294967295" type="body"/>
          </p:nvPr>
        </p:nvSpPr>
        <p:spPr>
          <a:xfrm>
            <a:off x="3743157" y="1371871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Proceso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406753" y="1256559"/>
            <a:ext cx="1449000" cy="13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5406722" y="1256375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4294967295" type="body"/>
          </p:nvPr>
        </p:nvSpPr>
        <p:spPr>
          <a:xfrm>
            <a:off x="5406884" y="1371871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Decisión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070340" y="1256559"/>
            <a:ext cx="1449000" cy="13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7070200" y="1256399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 txBox="1"/>
          <p:nvPr>
            <p:ph idx="4294967295" type="body"/>
          </p:nvPr>
        </p:nvSpPr>
        <p:spPr>
          <a:xfrm>
            <a:off x="7070287" y="1371871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Entrada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16038" y="3189369"/>
            <a:ext cx="1449300" cy="135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416051" y="3188700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 txBox="1"/>
          <p:nvPr>
            <p:ph idx="4294967295" type="body"/>
          </p:nvPr>
        </p:nvSpPr>
        <p:spPr>
          <a:xfrm>
            <a:off x="416351" y="3304196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Salida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2079602" y="3189369"/>
            <a:ext cx="1449300" cy="135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2079616" y="3188700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>
            <p:ph idx="4294967295" type="body"/>
          </p:nvPr>
        </p:nvSpPr>
        <p:spPr>
          <a:xfrm>
            <a:off x="2079741" y="3304196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Anotación (comentario)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743129" y="3189369"/>
            <a:ext cx="1449300" cy="135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3743207" y="3188700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 txBox="1"/>
          <p:nvPr>
            <p:ph idx="4294967295" type="body"/>
          </p:nvPr>
        </p:nvSpPr>
        <p:spPr>
          <a:xfrm>
            <a:off x="3743219" y="3304196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Proceso predefinido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406816" y="3188884"/>
            <a:ext cx="1449000" cy="13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406784" y="3188700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 txBox="1"/>
          <p:nvPr>
            <p:ph idx="4294967295" type="body"/>
          </p:nvPr>
        </p:nvSpPr>
        <p:spPr>
          <a:xfrm>
            <a:off x="5406947" y="3304196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Conector de página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070403" y="3188884"/>
            <a:ext cx="1449000" cy="13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7070262" y="3188724"/>
            <a:ext cx="1449300" cy="60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 txBox="1"/>
          <p:nvPr>
            <p:ph idx="4294967295" type="body"/>
          </p:nvPr>
        </p:nvSpPr>
        <p:spPr>
          <a:xfrm>
            <a:off x="7070350" y="3304196"/>
            <a:ext cx="1449000" cy="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</a:rPr>
              <a:t>Conector fuera de página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230" name="Google Shape;2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75" y="1950738"/>
            <a:ext cx="12763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6475" y="1860263"/>
            <a:ext cx="12954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575" y="1869800"/>
            <a:ext cx="13144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1280" y="1869787"/>
            <a:ext cx="712822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6725" y="3789925"/>
            <a:ext cx="12477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70113" y="1879300"/>
            <a:ext cx="13430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99508" y="3789925"/>
            <a:ext cx="1209453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98025" y="3932800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85325" y="3889925"/>
            <a:ext cx="8191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843988" y="3837550"/>
            <a:ext cx="12858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55650" y="2644638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Orden de los procesos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2394675" y="2702400"/>
            <a:ext cx="8190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Inicio o fin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3717200" y="2668463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Operaciones con datos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347975" y="2716075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Operación condicional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7044325" y="2683263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Entrada de datos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468250" y="4600050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Salida de datos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2079750" y="4629700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Información adicional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3691250" y="4532900"/>
            <a:ext cx="150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 proceso que ha sido definido en otro lugar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367788" y="4600050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Reemplaza líneas largas o confusas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7070400" y="4648375"/>
            <a:ext cx="15009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Conecta con una página diferente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Cómo crear un diagrama de flujo paso a paso</a:t>
            </a:r>
            <a:endParaRPr b="1"/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311700" y="1501825"/>
            <a:ext cx="8520600" cy="27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1.  </a:t>
            </a:r>
            <a:r>
              <a:rPr b="1" lang="es" sz="2000"/>
              <a:t>Define el problema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2000"/>
              <a:t>2.  </a:t>
            </a:r>
            <a:r>
              <a:rPr b="1" lang="es" sz="2000"/>
              <a:t>Identifica entradas, procesos y salida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2000"/>
              <a:t>3.  </a:t>
            </a:r>
            <a:r>
              <a:rPr b="1" lang="es" sz="2000"/>
              <a:t>Establece el flujo lógico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2000"/>
              <a:t>4.  Dibuja con símbolos </a:t>
            </a:r>
            <a:r>
              <a:rPr b="1" lang="es" sz="2000"/>
              <a:t>estándar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" sz="2000"/>
              <a:t>5.  Revisa y comprueba </a:t>
            </a:r>
            <a:r>
              <a:rPr b="1" lang="es" sz="2000"/>
              <a:t>la lógica</a:t>
            </a:r>
            <a:endParaRPr b="1" sz="2000"/>
          </a:p>
        </p:txBody>
      </p:sp>
      <p:sp>
        <p:nvSpPr>
          <p:cNvPr id="256" name="Google Shape;256;p23"/>
          <p:cNvSpPr/>
          <p:nvPr/>
        </p:nvSpPr>
        <p:spPr>
          <a:xfrm>
            <a:off x="5719875" y="3497375"/>
            <a:ext cx="4029900" cy="13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7" name="Google Shape;2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9125" y="1167800"/>
            <a:ext cx="3463174" cy="34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Herramientas para crear diagramas de flujo</a:t>
            </a:r>
            <a:endParaRPr b="1"/>
          </a:p>
        </p:txBody>
      </p:sp>
      <p:sp>
        <p:nvSpPr>
          <p:cNvPr id="263" name="Google Shape;263;p24"/>
          <p:cNvSpPr txBox="1"/>
          <p:nvPr>
            <p:ph idx="4294967295" type="body"/>
          </p:nvPr>
        </p:nvSpPr>
        <p:spPr>
          <a:xfrm>
            <a:off x="277650" y="1250000"/>
            <a:ext cx="40668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Draw.io / Diagrams.net → </a:t>
            </a:r>
            <a:r>
              <a:rPr lang="es" sz="1600">
                <a:solidFill>
                  <a:srgbClr val="000000"/>
                </a:solidFill>
              </a:rPr>
              <a:t>gratuita y online.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64" name="Google Shape;264;p24"/>
          <p:cNvSpPr txBox="1"/>
          <p:nvPr>
            <p:ph idx="4294967295" type="body"/>
          </p:nvPr>
        </p:nvSpPr>
        <p:spPr>
          <a:xfrm>
            <a:off x="4771950" y="1244150"/>
            <a:ext cx="39036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Lucidchart </a:t>
            </a:r>
            <a:r>
              <a:rPr lang="es" sz="1600">
                <a:solidFill>
                  <a:srgbClr val="000000"/>
                </a:solidFill>
              </a:rPr>
              <a:t>→ colaborativa y profesional.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65" name="Google Shape;2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200" y="1803550"/>
            <a:ext cx="4217098" cy="26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03550"/>
            <a:ext cx="4317302" cy="269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idx="4294967295" type="body"/>
          </p:nvPr>
        </p:nvSpPr>
        <p:spPr>
          <a:xfrm>
            <a:off x="263000" y="948013"/>
            <a:ext cx="40668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Miro → </a:t>
            </a:r>
            <a:r>
              <a:rPr lang="es" sz="1600">
                <a:solidFill>
                  <a:srgbClr val="000000"/>
                </a:solidFill>
              </a:rPr>
              <a:t>ideal para trabajo en equipo.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272" name="Google Shape;272;p25"/>
          <p:cNvSpPr txBox="1"/>
          <p:nvPr>
            <p:ph idx="4294967295" type="body"/>
          </p:nvPr>
        </p:nvSpPr>
        <p:spPr>
          <a:xfrm>
            <a:off x="4757300" y="942163"/>
            <a:ext cx="39036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00"/>
                </a:solidFill>
              </a:rPr>
              <a:t>Microsoft Visio → </a:t>
            </a:r>
            <a:r>
              <a:rPr lang="es" sz="1600">
                <a:solidFill>
                  <a:srgbClr val="000000"/>
                </a:solidFill>
              </a:rPr>
              <a:t>estándar</a:t>
            </a:r>
            <a:r>
              <a:rPr lang="es" sz="1600">
                <a:solidFill>
                  <a:srgbClr val="000000"/>
                </a:solidFill>
              </a:rPr>
              <a:t> empresarial.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73" name="Google Shape;273;p25"/>
          <p:cNvPicPr preferRelativeResize="0"/>
          <p:nvPr/>
        </p:nvPicPr>
        <p:blipFill rotWithShape="1">
          <a:blip r:embed="rId3">
            <a:alphaModFix/>
          </a:blip>
          <a:srcRect b="0" l="1352" r="1352" t="0"/>
          <a:stretch/>
        </p:blipFill>
        <p:spPr>
          <a:xfrm>
            <a:off x="4600550" y="1501562"/>
            <a:ext cx="4217098" cy="269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 rotWithShape="1">
          <a:blip r:embed="rId4">
            <a:alphaModFix/>
          </a:blip>
          <a:srcRect b="6762" l="0" r="0" t="6762"/>
          <a:stretch/>
        </p:blipFill>
        <p:spPr>
          <a:xfrm>
            <a:off x="137750" y="1501563"/>
            <a:ext cx="4317302" cy="269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Ejemplo </a:t>
            </a:r>
            <a:r>
              <a:rPr b="1" lang="es"/>
              <a:t>práctico</a:t>
            </a:r>
            <a:r>
              <a:rPr b="1" lang="es"/>
              <a:t> resuelto</a:t>
            </a:r>
            <a:endParaRPr b="1"/>
          </a:p>
        </p:txBody>
      </p:sp>
      <p:sp>
        <p:nvSpPr>
          <p:cNvPr id="280" name="Google Shape;280;p26"/>
          <p:cNvSpPr txBox="1"/>
          <p:nvPr>
            <p:ph idx="1" type="body"/>
          </p:nvPr>
        </p:nvSpPr>
        <p:spPr>
          <a:xfrm>
            <a:off x="311700" y="1229975"/>
            <a:ext cx="4499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Objetivo:</a:t>
            </a:r>
            <a:r>
              <a:rPr lang="es" sz="2000"/>
              <a:t> Algoritmo para determinar que un </a:t>
            </a:r>
            <a:r>
              <a:rPr lang="es" sz="2000"/>
              <a:t>número</a:t>
            </a:r>
            <a:r>
              <a:rPr lang="es" sz="2000"/>
              <a:t> es par o impar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2000"/>
              <a:t>Descripción breve:</a:t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s" sz="2000"/>
              <a:t>El usuario introduce un número</a:t>
            </a:r>
            <a:r>
              <a:rPr lang="es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AutoNum type="arabicPeriod"/>
            </a:pPr>
            <a:r>
              <a:rPr lang="es" sz="2000"/>
              <a:t>Se evalúa si A % 2 == 0.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AutoNum type="arabicPeriod"/>
            </a:pPr>
            <a:r>
              <a:rPr lang="es" sz="2000"/>
              <a:t>Si es </a:t>
            </a:r>
            <a:r>
              <a:rPr b="1" lang="es" sz="2000"/>
              <a:t>verdadero → “Es par”</a:t>
            </a:r>
            <a:r>
              <a:rPr lang="es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AutoNum type="arabicPeriod"/>
            </a:pPr>
            <a:r>
              <a:rPr lang="es" sz="2000"/>
              <a:t>Si es </a:t>
            </a:r>
            <a:r>
              <a:rPr b="1" lang="es" sz="2000"/>
              <a:t>falso → “Es impar”</a:t>
            </a:r>
            <a:r>
              <a:rPr lang="es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AutoNum type="arabicPeriod"/>
            </a:pPr>
            <a:r>
              <a:rPr lang="es" sz="2000"/>
              <a:t>Fin del proceso.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281" name="Google Shape;281;p26" title="Diagrama sin títul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375" y="189075"/>
            <a:ext cx="3223825" cy="47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801" y="1313975"/>
            <a:ext cx="7716400" cy="31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 diagrama a código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